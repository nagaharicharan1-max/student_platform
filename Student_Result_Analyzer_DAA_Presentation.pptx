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554480"/>
            <a:ext cx="107899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/>
            </a:pPr>
            <a:r>
              <a:t>Student Result Analyzer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880360"/>
            <a:ext cx="100584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/>
            </a:pPr>
            <a:r>
              <a:t>DAA Algorithm Visualizer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886200"/>
            <a:ext cx="8503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t>Python • Flask • SQLite • JavaScript • Chart.js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1.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Student marks are stored and analyzed to produce meaningful academic results.</a:t>
            </a:r>
          </a:p>
          <a:p>
            <a:pPr>
              <a:spcAft>
                <a:spcPts val="1000"/>
              </a:spcAft>
              <a:defRPr sz="2000"/>
            </a:pPr>
            <a:r>
              <a:t>The system calculates total marks, average, percentage, grade and rank.</a:t>
            </a:r>
          </a:p>
          <a:p>
            <a:pPr>
              <a:spcAft>
                <a:spcPts val="1000"/>
              </a:spcAft>
              <a:defRPr sz="2000"/>
            </a:pPr>
            <a:r>
              <a:t>DAA algorithms are used to sort, search, process ranges and traverse subject relationships.</a:t>
            </a:r>
          </a:p>
          <a:p>
            <a:pPr>
              <a:spcAft>
                <a:spcPts val="1000"/>
              </a:spcAft>
              <a:defRPr sz="2000"/>
            </a:pPr>
            <a:r>
              <a:t>The key goal is not only to get results, but to visibly demonstrate how each algorithm works.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2. Project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Store student details and marks in a SQLite database.</a:t>
            </a:r>
          </a:p>
          <a:p>
            <a:pPr>
              <a:spcAft>
                <a:spcPts val="1000"/>
              </a:spcAft>
              <a:defRPr sz="2000"/>
            </a:pPr>
            <a:r>
              <a:t>Rank students using manually implemented sorting algorithms.</a:t>
            </a:r>
          </a:p>
          <a:p>
            <a:pPr>
              <a:spcAft>
                <a:spcPts val="1000"/>
              </a:spcAft>
              <a:defRPr sz="2000"/>
            </a:pPr>
            <a:r>
              <a:t>Search students efficiently using Binary Search on sorted data.</a:t>
            </a:r>
          </a:p>
          <a:p>
            <a:pPr>
              <a:spcAft>
                <a:spcPts val="1000"/>
              </a:spcAft>
              <a:defRPr sz="2000"/>
            </a:pPr>
            <a:r>
              <a:t>Answer mark-range queries using lower and upper bounds.</a:t>
            </a:r>
          </a:p>
          <a:p>
            <a:pPr>
              <a:spcAft>
                <a:spcPts val="1000"/>
              </a:spcAft>
              <a:defRPr sz="2000"/>
            </a:pPr>
            <a:r>
              <a:t>Represent relationships between subjects as a graph.</a:t>
            </a:r>
          </a:p>
          <a:p>
            <a:pPr>
              <a:spcAft>
                <a:spcPts val="1000"/>
              </a:spcAft>
              <a:defRPr sz="2000"/>
            </a:pPr>
            <a:r>
              <a:t>Visualize algorithm steps, comparisons, operations and execution time.</a:t>
            </a:r>
          </a:p>
          <a:p>
            <a:pPr>
              <a:spcAft>
                <a:spcPts val="1000"/>
              </a:spcAft>
              <a:defRPr sz="2000"/>
            </a:pPr>
            <a:r>
              <a:t>Provide a clean dashboard suitable for a college DAA demonstration.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3. Technologies &amp;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Backend: Python + Flask</a:t>
            </a:r>
          </a:p>
          <a:p>
            <a:pPr>
              <a:spcAft>
                <a:spcPts val="1000"/>
              </a:spcAft>
              <a:defRPr sz="2000"/>
            </a:pPr>
            <a:r>
              <a:t>Database: SQLite</a:t>
            </a:r>
          </a:p>
          <a:p>
            <a:pPr>
              <a:spcAft>
                <a:spcPts val="1000"/>
              </a:spcAft>
              <a:defRPr sz="2000"/>
            </a:pPr>
            <a:r>
              <a:t>Frontend: HTML5 + CSS3 + JavaScript</a:t>
            </a:r>
          </a:p>
          <a:p>
            <a:pPr>
              <a:spcAft>
                <a:spcPts val="1000"/>
              </a:spcAft>
              <a:defRPr sz="2000"/>
            </a:pPr>
            <a:r>
              <a:t>Charts: Chart.js</a:t>
            </a:r>
          </a:p>
          <a:p>
            <a:pPr>
              <a:spcAft>
                <a:spcPts val="1000"/>
              </a:spcAft>
              <a:defRPr sz="2000"/>
            </a:pPr>
            <a:r>
              <a:t>Algorithms: Manual Python implementations for the main demonstrations</a:t>
            </a:r>
          </a:p>
          <a:p>
            <a:pPr>
              <a:spcAft>
                <a:spcPts val="1000"/>
              </a:spcAft>
              <a:defRPr sz="2000"/>
            </a:pPr>
            <a:r>
              <a:t>Flow: User Interface → Flask Routes / REST API → Algorithms → SQLite → Results &amp; Visualizations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4. Student Data &amp; Result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Student fields: ID, Name, Roll Number, Mathematics, Physics, Chemistry, English and Computer Science.</a:t>
            </a:r>
          </a:p>
          <a:p>
            <a:pPr>
              <a:spcAft>
                <a:spcPts val="1000"/>
              </a:spcAft>
              <a:defRPr sz="2000"/>
            </a:pPr>
            <a:r>
              <a:t>Each subject mark is validated between 0 and 100.</a:t>
            </a:r>
          </a:p>
          <a:p>
            <a:pPr>
              <a:spcAft>
                <a:spcPts val="1000"/>
              </a:spcAft>
              <a:defRPr sz="2000"/>
            </a:pPr>
            <a:r>
              <a:t>Calculated values: Total Marks, Average, Percentage, Grade and Rank.</a:t>
            </a:r>
          </a:p>
          <a:p>
            <a:pPr>
              <a:spcAft>
                <a:spcPts val="1000"/>
              </a:spcAft>
              <a:defRPr sz="2000"/>
            </a:pPr>
            <a:r>
              <a:t>CRUD operations: Add, Edit, Delete and View students.</a:t>
            </a:r>
          </a:p>
          <a:p>
            <a:pPr>
              <a:spcAft>
                <a:spcPts val="1000"/>
              </a:spcAft>
              <a:defRPr sz="2000"/>
            </a:pPr>
            <a:r>
              <a:t>Sample data is included so the application can run immediately.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5. Sorting Algorithms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Bubble Sort — repeatedly compares adjacent values and swaps them when needed.</a:t>
            </a:r>
          </a:p>
          <a:p>
            <a:pPr>
              <a:spcAft>
                <a:spcPts val="1000"/>
              </a:spcAft>
              <a:defRPr sz="2000"/>
            </a:pPr>
            <a:r>
              <a:t>Selection Sort — repeatedly selects the minimum/maximum remaining value.</a:t>
            </a:r>
          </a:p>
          <a:p>
            <a:pPr>
              <a:spcAft>
                <a:spcPts val="1000"/>
              </a:spcAft>
              <a:defRPr sz="2000"/>
            </a:pPr>
            <a:r>
              <a:t>Merge Sort — divides the data, sorts parts and merges them.</a:t>
            </a:r>
          </a:p>
          <a:p>
            <a:pPr>
              <a:spcAft>
                <a:spcPts val="1000"/>
              </a:spcAft>
              <a:defRPr sz="2000"/>
            </a:pPr>
            <a:r>
              <a:t>Quick Sort — partitions the data around a pivot and recursively sorts the parts.</a:t>
            </a:r>
          </a:p>
          <a:p>
            <a:pPr>
              <a:spcAft>
                <a:spcPts val="1000"/>
              </a:spcAft>
              <a:defRPr sz="2000"/>
            </a:pPr>
            <a:r>
              <a:t>Students can be sorted by Total Marks, Percentage or individual subjects.</a:t>
            </a:r>
          </a:p>
          <a:p>
            <a:pPr>
              <a:spcAft>
                <a:spcPts val="1000"/>
              </a:spcAft>
              <a:defRPr sz="2000"/>
            </a:pPr>
            <a:r>
              <a:t>The system displays comparisons, swaps, execution time, time complexity and space complexity.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6. Binary 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Binary Search works only on sorted data.</a:t>
            </a:r>
          </a:p>
          <a:p>
            <a:pPr>
              <a:spcAft>
                <a:spcPts val="1000"/>
              </a:spcAft>
              <a:defRPr sz="2000"/>
            </a:pPr>
            <a:r>
              <a:t>It repeatedly divides the search interval approximately in half.</a:t>
            </a:r>
          </a:p>
          <a:p>
            <a:pPr>
              <a:spcAft>
                <a:spcPts val="1000"/>
              </a:spcAft>
              <a:defRPr sz="2000"/>
            </a:pPr>
            <a:r>
              <a:t>Search fields include Student ID, Roll Number, Total Marks and Percentage.</a:t>
            </a:r>
          </a:p>
          <a:p>
            <a:pPr>
              <a:spcAft>
                <a:spcPts val="1000"/>
              </a:spcAft>
              <a:defRPr sz="2000"/>
            </a:pPr>
            <a:r>
              <a:t>The visualizer shows Low, Mid, High, current value and comparison result at every step.</a:t>
            </a:r>
          </a:p>
          <a:p>
            <a:pPr>
              <a:spcAft>
                <a:spcPts val="1000"/>
              </a:spcAft>
              <a:defRPr sz="2000"/>
            </a:pPr>
            <a:r>
              <a:t>It also displays the number of comparisons, search steps and final result.</a:t>
            </a:r>
          </a:p>
          <a:p>
            <a:pPr>
              <a:spcAft>
                <a:spcPts val="1000"/>
              </a:spcAft>
              <a:defRPr sz="2000"/>
            </a:pPr>
            <a:r>
              <a:t>Typical complexity: O(log n) average/worst case, with O(1) extra space for the iterative version.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7. Range Queries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Example: Find students whose total marks are between 400 and 500.</a:t>
            </a:r>
          </a:p>
          <a:p>
            <a:pPr>
              <a:spcAft>
                <a:spcPts val="1000"/>
              </a:spcAft>
              <a:defRPr sz="2000"/>
            </a:pPr>
            <a:r>
              <a:t>The selected values are sorted before boundary searching.</a:t>
            </a:r>
          </a:p>
          <a:p>
            <a:pPr>
              <a:spcAft>
                <a:spcPts val="1000"/>
              </a:spcAft>
              <a:defRPr sz="2000"/>
            </a:pPr>
            <a:r>
              <a:t>Lower Bound finds the first value ≥ minimum.</a:t>
            </a:r>
          </a:p>
          <a:p>
            <a:pPr>
              <a:spcAft>
                <a:spcPts val="1000"/>
              </a:spcAft>
              <a:defRPr sz="2000"/>
            </a:pPr>
            <a:r>
              <a:t>Upper Bound finds the first value &gt; maximum.</a:t>
            </a:r>
          </a:p>
          <a:p>
            <a:pPr>
              <a:spcAft>
                <a:spcPts val="1000"/>
              </a:spcAft>
              <a:defRPr sz="2000"/>
            </a:pPr>
            <a:r>
              <a:t>Records between these boundaries form the query result.</a:t>
            </a:r>
          </a:p>
          <a:p>
            <a:pPr>
              <a:spcAft>
                <a:spcPts val="1000"/>
              </a:spcAft>
              <a:defRPr sz="2000"/>
            </a:pPr>
            <a:r>
              <a:t>The interface reports matching students, records examined and execution time.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8. Graph &amp; Subject Relationships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Subjects are represented as graph vertices: Mathematics, Physics, Chemistry, English and Computer Science.</a:t>
            </a:r>
          </a:p>
          <a:p>
            <a:pPr>
              <a:spcAft>
                <a:spcPts val="1000"/>
              </a:spcAft>
              <a:defRPr sz="2000"/>
            </a:pPr>
            <a:r>
              <a:t>Edges represent calculated relationship/correlation strength between subjects.</a:t>
            </a:r>
          </a:p>
          <a:p>
            <a:pPr>
              <a:spcAft>
                <a:spcPts val="1000"/>
              </a:spcAft>
              <a:defRPr sz="2000"/>
            </a:pPr>
            <a:r>
              <a:t>BFS or DFS can be used to traverse the subject graph.</a:t>
            </a:r>
          </a:p>
          <a:p>
            <a:pPr>
              <a:spcAft>
                <a:spcPts val="1000"/>
              </a:spcAft>
              <a:defRPr sz="2000"/>
            </a:pPr>
            <a:r>
              <a:t>The visualizer shows the starting subject, visited nodes, traversal order and explored edges.</a:t>
            </a:r>
          </a:p>
          <a:p>
            <a:pPr>
              <a:spcAft>
                <a:spcPts val="1000"/>
              </a:spcAft>
              <a:defRPr sz="2000"/>
            </a:pPr>
            <a:r>
              <a:t>This demonstrates how graph data structures can represent relationships in student performance.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9. Dashboard &amp; Visualizations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Dashboard cards: Total Students, Average Percentage, Highest Percentage, Lowest Percentage, Top Student and Number of Subjects.</a:t>
            </a:r>
          </a:p>
          <a:p>
            <a:pPr>
              <a:spcAft>
                <a:spcPts val="1000"/>
              </a:spcAft>
              <a:defRPr sz="2000"/>
            </a:pPr>
            <a:r>
              <a:t>Chart 1: Student Performance — percentage bar chart.</a:t>
            </a:r>
          </a:p>
          <a:p>
            <a:pPr>
              <a:spcAft>
                <a:spcPts val="1000"/>
              </a:spcAft>
              <a:defRPr sz="2000"/>
            </a:pPr>
            <a:r>
              <a:t>Chart 2: Subject Average — average marks by subject.</a:t>
            </a:r>
          </a:p>
          <a:p>
            <a:pPr>
              <a:spcAft>
                <a:spcPts val="1000"/>
              </a:spcAft>
              <a:defRPr sz="2000"/>
            </a:pPr>
            <a:r>
              <a:t>Chart 3: Grade Distribution — A, B, C, D and F.</a:t>
            </a:r>
          </a:p>
          <a:p>
            <a:pPr>
              <a:spcAft>
                <a:spcPts val="1000"/>
              </a:spcAft>
              <a:defRPr sz="2000"/>
            </a:pPr>
            <a:r>
              <a:t>Chart 4: Subject Relationship — visual relationship between subjects.</a:t>
            </a:r>
          </a:p>
          <a:p>
            <a:pPr>
              <a:spcAft>
                <a:spcPts val="1000"/>
              </a:spcAft>
              <a:defRPr sz="2000"/>
            </a:pPr>
            <a:r>
              <a:t>Interactive charts help make the algorithm results easier to understand during demonstration.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10. Algorithm Visualizer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Sorting: original array → comparisons → swaps → sorted array.</a:t>
            </a:r>
          </a:p>
          <a:p>
            <a:pPr>
              <a:spcAft>
                <a:spcPts val="1000"/>
              </a:spcAft>
              <a:defRPr sz="2000"/>
            </a:pPr>
            <a:r>
              <a:t>Binary Search: sorted array → Low/Mid/High → comparison → search result.</a:t>
            </a:r>
          </a:p>
          <a:p>
            <a:pPr>
              <a:spcAft>
                <a:spcPts val="1000"/>
              </a:spcAft>
              <a:defRPr sz="2000"/>
            </a:pPr>
            <a:r>
              <a:t>Range Query: sorted values → lower bound → upper bound → matching range.</a:t>
            </a:r>
          </a:p>
          <a:p>
            <a:pPr>
              <a:spcAft>
                <a:spcPts val="1000"/>
              </a:spcAft>
              <a:defRPr sz="2000"/>
            </a:pPr>
            <a:r>
              <a:t>Graph Traversal: nodes → edges → starting node → visited nodes → traversal order.</a:t>
            </a:r>
          </a:p>
          <a:p>
            <a:pPr>
              <a:spcAft>
                <a:spcPts val="1000"/>
              </a:spcAft>
              <a:defRPr sz="2000"/>
            </a:pPr>
            <a:r>
              <a:t>For every major algorithm, the project exposes input, data structure, steps, intermediate states, result and complexity.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11. Algorithm Complexity Comparison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325880"/>
          <a:ext cx="108813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6272"/>
                <a:gridCol w="2176272"/>
                <a:gridCol w="2176272"/>
                <a:gridCol w="2176272"/>
                <a:gridCol w="2176272"/>
              </a:tblGrid>
              <a:tr h="685800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Algorithm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Best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Average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Worst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Space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Bubble Sort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O(n)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O(n²)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O(n²)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O(1)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Selection Sort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O(n²)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O(n²)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O(n²)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O(1)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Merge Sort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O(n log 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O(n log 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O(n log 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O(n)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Quick Sort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O(n log 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O(n log 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O(n²)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O(log n)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Binary Search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O(1)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O(log 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O(log 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O(1)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12. REST API &amp; Database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Student APIs: GET, POST, PUT and DELETE /api/students</a:t>
            </a:r>
          </a:p>
          <a:p>
            <a:pPr>
              <a:spcAft>
                <a:spcPts val="1000"/>
              </a:spcAft>
              <a:defRPr sz="2000"/>
            </a:pPr>
            <a:r>
              <a:t>Analysis APIs: /api/analyze, /api/sort, /api/search, /api/range-query and /api/graph</a:t>
            </a:r>
          </a:p>
          <a:p>
            <a:pPr>
              <a:spcAft>
                <a:spcPts val="1000"/>
              </a:spcAft>
              <a:defRPr sz="2000"/>
            </a:pPr>
            <a:r>
              <a:t>APIs return clean JSON responses and handle validation/errors.</a:t>
            </a:r>
          </a:p>
          <a:p>
            <a:pPr>
              <a:spcAft>
                <a:spcPts val="1000"/>
              </a:spcAft>
              <a:defRPr sz="2000"/>
            </a:pPr>
            <a:r>
              <a:t>SQLite stores student information persistently.</a:t>
            </a:r>
          </a:p>
          <a:p>
            <a:pPr>
              <a:spcAft>
                <a:spcPts val="1000"/>
              </a:spcAft>
              <a:defRPr sz="2000"/>
            </a:pPr>
            <a:r>
              <a:t>Parameterized SQL queries are used for safer database operations.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13. Live Demonstration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Step 1 — Open the dashboard and show the student statistics.</a:t>
            </a:r>
          </a:p>
          <a:p>
            <a:pPr>
              <a:spcAft>
                <a:spcPts val="1000"/>
              </a:spcAft>
              <a:defRPr sz="2000"/>
            </a:pPr>
            <a:r>
              <a:t>Step 2 — Add or edit a student and show calculated results.</a:t>
            </a:r>
          </a:p>
          <a:p>
            <a:pPr>
              <a:spcAft>
                <a:spcPts val="1000"/>
              </a:spcAft>
              <a:defRPr sz="2000"/>
            </a:pPr>
            <a:r>
              <a:t>Step 3 — Run Bubble, Selection, Merge and Quick Sort on the same data.</a:t>
            </a:r>
          </a:p>
          <a:p>
            <a:pPr>
              <a:spcAft>
                <a:spcPts val="1000"/>
              </a:spcAft>
              <a:defRPr sz="2000"/>
            </a:pPr>
            <a:r>
              <a:t>Step 4 — Show comparisons, swaps and execution time.</a:t>
            </a:r>
          </a:p>
          <a:p>
            <a:pPr>
              <a:spcAft>
                <a:spcPts val="1000"/>
              </a:spcAft>
              <a:defRPr sz="2000"/>
            </a:pPr>
            <a:r>
              <a:t>Step 5 — Sort by a chosen field and perform Binary Search.</a:t>
            </a:r>
          </a:p>
          <a:p>
            <a:pPr>
              <a:spcAft>
                <a:spcPts val="1000"/>
              </a:spcAft>
              <a:defRPr sz="2000"/>
            </a:pPr>
            <a:r>
              <a:t>Step 6 — Run a range query such as 400–500 marks.</a:t>
            </a:r>
          </a:p>
          <a:p>
            <a:pPr>
              <a:spcAft>
                <a:spcPts val="1000"/>
              </a:spcAft>
              <a:defRPr sz="2000"/>
            </a:pPr>
            <a:r>
              <a:t>Step 7 — Select a subject and demonstrate BFS/DFS traversal.</a:t>
            </a:r>
          </a:p>
          <a:p>
            <a:pPr>
              <a:spcAft>
                <a:spcPts val="1000"/>
              </a:spcAft>
              <a:defRPr sz="2000"/>
            </a:pPr>
            <a:r>
              <a:t>Step 8 — Finish by showing the complexity table and measured algorithm results.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14. How the Project Satisfies DAA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Sorting — demonstrates multiple comparison-based sorting techniques.</a:t>
            </a:r>
          </a:p>
          <a:p>
            <a:pPr>
              <a:spcAft>
                <a:spcPts val="1000"/>
              </a:spcAft>
              <a:defRPr sz="2000"/>
            </a:pPr>
            <a:r>
              <a:t>Searching — demonstrates Binary Search and the requirement for sorted input.</a:t>
            </a:r>
          </a:p>
          <a:p>
            <a:pPr>
              <a:spcAft>
                <a:spcPts val="1000"/>
              </a:spcAft>
              <a:defRPr sz="2000"/>
            </a:pPr>
            <a:r>
              <a:t>Divide and Conquer — demonstrated by Merge Sort, Quick Sort and Binary Search.</a:t>
            </a:r>
          </a:p>
          <a:p>
            <a:pPr>
              <a:spcAft>
                <a:spcPts val="1000"/>
              </a:spcAft>
              <a:defRPr sz="2000"/>
            </a:pPr>
            <a:r>
              <a:t>Range Processing — uses boundary searches for efficient range queries.</a:t>
            </a:r>
          </a:p>
          <a:p>
            <a:pPr>
              <a:spcAft>
                <a:spcPts val="1000"/>
              </a:spcAft>
              <a:defRPr sz="2000"/>
            </a:pPr>
            <a:r>
              <a:t>Graphs — models subject relationships and demonstrates BFS/DFS traversal.</a:t>
            </a:r>
          </a:p>
          <a:p>
            <a:pPr>
              <a:spcAft>
                <a:spcPts val="1000"/>
              </a:spcAft>
              <a:defRPr sz="2000"/>
            </a:pPr>
            <a:r>
              <a:t>Complexity Analysis — records theoretical complexity and practical execution measurements.</a:t>
            </a:r>
          </a:p>
          <a:p>
            <a:pPr>
              <a:spcAft>
                <a:spcPts val="1000"/>
              </a:spcAft>
              <a:defRPr sz="2000"/>
            </a:pPr>
            <a:r>
              <a:t>Visualization — makes intermediate algorithm states visible instead of treating algorithms as black boxes.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15.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Student Result Analyzer combines academic data management with core DAA concepts.</a:t>
            </a:r>
          </a:p>
          <a:p>
            <a:pPr>
              <a:spcAft>
                <a:spcPts val="1000"/>
              </a:spcAft>
              <a:defRPr sz="2000"/>
            </a:pPr>
            <a:r>
              <a:t>It converts student marks into useful results while exposing how algorithms process the data.</a:t>
            </a:r>
          </a:p>
          <a:p>
            <a:pPr>
              <a:spcAft>
                <a:spcPts val="1000"/>
              </a:spcAft>
              <a:defRPr sz="2000"/>
            </a:pPr>
            <a:r>
              <a:t>The project is designed as a working Flask + SQLite prototype rather than a UI-only mockup.</a:t>
            </a:r>
          </a:p>
          <a:p>
            <a:pPr>
              <a:spcAft>
                <a:spcPts val="1000"/>
              </a:spcAft>
              <a:defRPr sz="2000"/>
            </a:pPr>
            <a:r>
              <a:t>Its visual demonstrations make sorting, searching, range queries and graph traversal easy to explain in a college presentation.</a:t>
            </a:r>
          </a:p>
          <a:p>
            <a:pPr>
              <a:spcAft>
                <a:spcPts val="1000"/>
              </a:spcAft>
              <a:defRPr sz="2000"/>
            </a:pPr>
            <a:r>
              <a:t>Future enhancements can include larger datasets, authentication, additional graph algorithms and richer analytics.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Questions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560320"/>
            <a:ext cx="98755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Student Result Analyzer – DAA Algorithm Visualizer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